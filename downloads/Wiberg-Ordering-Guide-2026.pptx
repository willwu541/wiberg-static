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>
              <a:alpha val="6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48640"/>
            <a:ext cx="2194560" cy="6035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Ordering Guide</a:t>
            </a:r>
            <a:endParaRPr lang="en-US" sz="4800" dirty="0"/>
          </a:p>
        </p:txBody>
      </p:sp>
      <p:sp>
        <p:nvSpPr>
          <p:cNvPr id="6" name="Shape 2"/>
          <p:cNvSpPr/>
          <p:nvPr/>
        </p:nvSpPr>
        <p:spPr>
          <a:xfrm>
            <a:off x="731520" y="320040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3"/>
          <p:cNvSpPr/>
          <p:nvPr/>
        </p:nvSpPr>
        <p:spPr>
          <a:xfrm>
            <a:off x="731520" y="34747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specify, order, and receive</a:t>
            </a:r>
            <a:endParaRPr lang="en-US" sz="18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steel grating from Wiberg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inquiry to delivery — everything you need to know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Process — From Inquiry to Delivery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2331720"/>
            <a:ext cx="100584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RFQ with product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spacing, material,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finish, size, quantity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96596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288036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2316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423160" y="3200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 pricing,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confirmation,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delivery schedule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2316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1–2 days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96596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9768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PO, agree 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specs &amp; payment terms,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drawings issued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29768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3–5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196596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17220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72200" y="3200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Manufacturing, surface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treatment, QC inspection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test reports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15–25 days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503920" y="196596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804672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3200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packing, container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loading, B/L &amp; documents,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provided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04672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3–5 days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378440" y="196596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1" name="Text 29"/>
          <p:cNvSpPr/>
          <p:nvPr/>
        </p:nvSpPr>
        <p:spPr>
          <a:xfrm>
            <a:off x="10378440" y="2011680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921240" y="28346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921240" y="3200400"/>
            <a:ext cx="1645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Arrival at destination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or site, after-sales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continues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921240" y="4251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15–35 days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152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lead time: 4–8 weeks (inquiry to arrival), depending on quantity, complexity, and destination.</a:t>
            </a:r>
            <a:endParaRPr lang="en-US" sz="12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5303520"/>
            <a:ext cx="3474720" cy="914400"/>
          </a:xfrm>
          <a:prstGeom prst="ellipse">
            <a:avLst/>
          </a:prstGeom>
        </p:spPr>
      </p:pic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5303520"/>
            <a:ext cx="3474720" cy="914400"/>
          </a:xfrm>
          <a:prstGeom prst="ellipse">
            <a:avLst/>
          </a:prstGeom>
        </p:spPr>
      </p:pic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9600" y="5303520"/>
            <a:ext cx="3474720" cy="914400"/>
          </a:xfrm>
          <a:prstGeom prst="ellipse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www.wiberg-grating.com  |  wibergmetal.com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Information to Provide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more complete your inquiry, the faster and more accurate our quotation.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94960" cy="822960"/>
          </a:xfrm>
          <a:prstGeom prst="rect">
            <a:avLst>
              <a:gd name="adj" fmla="val 6667"/>
            </a:avLst>
          </a:prstGeom>
          <a:solidFill>
            <a:srgbClr val="E8F4F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554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Type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834640" y="1554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grating, stair treads, trench covers,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FRP grating, accessories, or platform packages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5394960" cy="822960"/>
          </a:xfrm>
          <a:prstGeom prst="rect">
            <a:avLst>
              <a:gd name="adj" fmla="val 6667"/>
            </a:avLst>
          </a:prstGeom>
          <a:solidFill>
            <a:srgbClr val="E8F4F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51460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514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Spacing / Mesh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30×100 (metric), 19-W-4 (US/NAAMM),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"standard duty" — we'll confirm mapping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5394960" cy="822960"/>
          </a:xfrm>
          <a:prstGeom prst="rect">
            <a:avLst>
              <a:gd name="adj" fmla="val 6667"/>
            </a:avLst>
          </a:prstGeom>
          <a:solidFill>
            <a:srgbClr val="E8F4FD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47472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&amp; Finish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3464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steel + HDG, stainless (304/316),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aluminum, painted, powder coated, untreated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434840"/>
            <a:ext cx="5394960" cy="822960"/>
          </a:xfrm>
          <a:prstGeom prst="rect">
            <a:avLst>
              <a:gd name="adj" fmla="val 6667"/>
            </a:avLst>
          </a:prstGeom>
          <a:solidFill>
            <a:srgbClr val="E8F4FD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3484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4434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Dimensions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34640" y="4434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× width (mm), bearing bar direction,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span, and support locations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1520" y="5394960"/>
            <a:ext cx="5394960" cy="822960"/>
          </a:xfrm>
          <a:prstGeom prst="rect">
            <a:avLst>
              <a:gd name="adj" fmla="val 6667"/>
            </a:avLst>
          </a:prstGeom>
          <a:solidFill>
            <a:srgbClr val="E8F4FD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3949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5394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834640" y="5394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 of panels, m², or tonnes.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OK — we'll optimize.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1554480"/>
            <a:ext cx="5394960" cy="822960"/>
          </a:xfrm>
          <a:prstGeom prst="rect">
            <a:avLst>
              <a:gd name="adj" fmla="val 6667"/>
            </a:avLst>
          </a:prstGeom>
          <a:solidFill>
            <a:srgbClr val="F0F5FA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155448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12280" y="155448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/ Span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1554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live load (kN/m² or psf), span,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deflection limit — helps verify bar size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2514600"/>
            <a:ext cx="5394960" cy="822960"/>
          </a:xfrm>
          <a:prstGeom prst="rect">
            <a:avLst>
              <a:gd name="adj" fmla="val 6667"/>
            </a:avLst>
          </a:prstGeom>
          <a:solidFill>
            <a:srgbClr val="F0F5F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251460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12280" y="2514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Drawings / Sketches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25146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PDF, DWG, or hand sketch accepted.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Speeds up accurate quotation.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00800" y="3474720"/>
            <a:ext cx="5394960" cy="822960"/>
          </a:xfrm>
          <a:prstGeom prst="rect">
            <a:avLst>
              <a:gd name="adj" fmla="val 6667"/>
            </a:avLst>
          </a:prstGeom>
          <a:solidFill>
            <a:srgbClr val="F0F5FA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347472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12280" y="347472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34747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standard: YB/T, ANSI/NAAMM,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EN, BS, AS — if specified by owner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4434840"/>
            <a:ext cx="5394960" cy="822960"/>
          </a:xfrm>
          <a:prstGeom prst="rect">
            <a:avLst>
              <a:gd name="adj" fmla="val 6667"/>
            </a:avLst>
          </a:prstGeom>
          <a:solidFill>
            <a:srgbClr val="F0F5FA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43484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12280" y="44348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Details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03920" y="4434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Destination port/site, incoterm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(FOB / CIF / DDP), timeline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0" y="5394960"/>
            <a:ext cx="5394960" cy="822960"/>
          </a:xfrm>
          <a:prstGeom prst="rect">
            <a:avLst>
              <a:gd name="adj" fmla="val 6667"/>
            </a:avLst>
          </a:prstGeom>
          <a:solidFill>
            <a:srgbClr val="F0F5FA"/>
          </a:solidFill>
          <a:ln/>
        </p:spPr>
      </p:sp>
      <p:sp>
        <p:nvSpPr>
          <p:cNvPr id="42" name="Text 40"/>
          <p:cNvSpPr/>
          <p:nvPr/>
        </p:nvSpPr>
        <p:spPr>
          <a:xfrm>
            <a:off x="6400800" y="5394960"/>
            <a:ext cx="411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12280" y="53949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 Requirements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03920" y="53949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Cut-outs, banding, nosing, toe plates,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bolt holes, curved panels, platform assembly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1520" y="63550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= Required for quotation     ○ = Helpful (can discuss later)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www.wiberg-grating.com  |  wibergmetal.com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Quick-Reference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19456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188720"/>
            <a:ext cx="256032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2834640" y="11887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Spec (metric)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188720"/>
            <a:ext cx="301752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1188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Use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1040" y="1188720"/>
            <a:ext cx="1645920" cy="4572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691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Press-welded grating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169164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0" y="16916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30×100, 30×5 bar, 6mm cross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303520" y="169164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6916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Platforms, walkways, mezzanines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321040" y="169164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16916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HDG / painted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194560"/>
            <a:ext cx="21945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1945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Close-mesh grating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0" y="2194560"/>
            <a:ext cx="25603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3" name="Text 21"/>
          <p:cNvSpPr/>
          <p:nvPr/>
        </p:nvSpPr>
        <p:spPr>
          <a:xfrm>
            <a:off x="2834640" y="21945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20×50 or 30×50, 30×5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0" y="2194560"/>
            <a:ext cx="30175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5" name="Text 23"/>
          <p:cNvSpPr/>
          <p:nvPr/>
        </p:nvSpPr>
        <p:spPr>
          <a:xfrm>
            <a:off x="5394960" y="21945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Pedestrian, heel-proof, ADA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321040" y="2194560"/>
            <a:ext cx="16459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21945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48640" y="269748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2697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Heavy-duty grating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0" y="269748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283464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40×100, 50×6 ~ 150×8 bar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303520" y="269748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394960" y="2697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Vehicle lanes, docks, heavy plant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321040" y="269748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26974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200400"/>
            <a:ext cx="21945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Press-locked grating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743200" y="3200400"/>
            <a:ext cx="25603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9" name="Text 37"/>
          <p:cNvSpPr/>
          <p:nvPr/>
        </p:nvSpPr>
        <p:spPr>
          <a:xfrm>
            <a:off x="2834640" y="3200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30×100, 25×5 bar, flat cross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03520" y="3200400"/>
            <a:ext cx="30175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1" name="Text 39"/>
          <p:cNvSpPr/>
          <p:nvPr/>
        </p:nvSpPr>
        <p:spPr>
          <a:xfrm>
            <a:off x="5394960" y="32004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Architectural, clean finish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321040" y="3200400"/>
            <a:ext cx="16459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43" name="Text 41"/>
          <p:cNvSpPr/>
          <p:nvPr/>
        </p:nvSpPr>
        <p:spPr>
          <a:xfrm>
            <a:off x="8412480" y="32004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HDG / SS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48640" y="370332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703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treads (welded)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0" y="370332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83464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T1–T3, 30×100 mesh, nosing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303520" y="370332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394960" y="3703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stairs, ladders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321040" y="370332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8412480" y="37033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HDG + nosing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48640" y="4206240"/>
            <a:ext cx="21945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3" name="Text 51"/>
          <p:cNvSpPr/>
          <p:nvPr/>
        </p:nvSpPr>
        <p:spPr>
          <a:xfrm>
            <a:off x="640080" y="4206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Stair treads (bolted)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0" y="4206240"/>
            <a:ext cx="25603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5" name="Text 53"/>
          <p:cNvSpPr/>
          <p:nvPr/>
        </p:nvSpPr>
        <p:spPr>
          <a:xfrm>
            <a:off x="2834640" y="42062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T4–T6, bolt-on carriers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303520" y="4206240"/>
            <a:ext cx="30175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7" name="Text 55"/>
          <p:cNvSpPr/>
          <p:nvPr/>
        </p:nvSpPr>
        <p:spPr>
          <a:xfrm>
            <a:off x="5394960" y="42062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Retrofit, easy replacement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321040" y="4206240"/>
            <a:ext cx="16459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59" name="Text 57"/>
          <p:cNvSpPr/>
          <p:nvPr/>
        </p:nvSpPr>
        <p:spPr>
          <a:xfrm>
            <a:off x="8412480" y="420624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HDG + nosing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48640" y="470916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40080" y="4709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Trench / drain covers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743200" y="470916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2834640" y="4709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30×100 or 30×50, framed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303520" y="470916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5394960" y="47091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trenches, drains, sumps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8321040" y="470916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412480" y="47091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HDG / SS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48640" y="5212080"/>
            <a:ext cx="219456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5212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FRP molded grating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743200" y="5212080"/>
            <a:ext cx="25603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71" name="Text 69"/>
          <p:cNvSpPr/>
          <p:nvPr/>
        </p:nvSpPr>
        <p:spPr>
          <a:xfrm>
            <a:off x="2834640" y="5212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38×38 mesh, 25/38 mm deep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303520" y="5212080"/>
            <a:ext cx="30175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73" name="Text 71"/>
          <p:cNvSpPr/>
          <p:nvPr/>
        </p:nvSpPr>
        <p:spPr>
          <a:xfrm>
            <a:off x="5394960" y="52120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Chemical, wet, non-conductive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8321040" y="5212080"/>
            <a:ext cx="164592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75" name="Text 73"/>
          <p:cNvSpPr/>
          <p:nvPr/>
        </p:nvSpPr>
        <p:spPr>
          <a:xfrm>
            <a:off x="8412480" y="52120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As-molded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48640" y="5715000"/>
            <a:ext cx="219456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640080" y="5715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Accessories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2743200" y="5715000"/>
            <a:ext cx="25603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2834640" y="5715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Clips, brackets, banding, nosing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303520" y="5715000"/>
            <a:ext cx="30175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5394960" y="5715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Fixing, edge trim, safety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8321040" y="5715000"/>
            <a:ext cx="16459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8412480" y="57150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grating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731520" y="63550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sure which product? Tell us the application and we'll recommend the right type.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www.wiberg-grating.com  |  wibergmetal.com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Read a Grating Specification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10698480" cy="1188720"/>
          </a:xfrm>
          <a:prstGeom prst="rect">
            <a:avLst>
              <a:gd name="adj" fmla="val 7692"/>
            </a:avLst>
          </a:prstGeom>
          <a:solidFill>
            <a:srgbClr val="F0F5FA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280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W-30-100,  30×5,  Q235B,  Serrated,  Hot-Dip Galvanized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↑ Type     ↑ Pitch   ↑ Bar      ↑ Steel     ↑ Surface    ↑ Finish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1069848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560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/ P / HD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60720" y="2560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= Welded, P = Press-locked, HD = Heavy-duty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10698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63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30-100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3063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(s₁ × s₂)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Bearing bar pitch 30 mm, cross bar pitch 100 mm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566160"/>
            <a:ext cx="1069848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5661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30×5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5661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size (H × T)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height 30 mm, thickness 5 mm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Q235B / A36 / S235JR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0690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grade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4069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Steel grade — stainless quoted separately (304/316)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572000"/>
            <a:ext cx="1069848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 / Serrated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0" y="4572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= smooth, Serrated = slip-resistant teeth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50749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HDG / Painted / Untreated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50749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760720" y="5074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Hot-dip galvanized (≥610 g/m²), powder coat, or bare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solidFill>
            <a:srgbClr val="F0F5F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5577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1000 × 6000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0" y="5577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size (L × W)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60720" y="5577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length × width in mm; state bearing bar direction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6080760"/>
            <a:ext cx="106984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822960" y="6080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G305/30/100W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0" y="60807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YB/T model code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60720" y="60807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designation per Chinese standard YB/T 4001.1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www.wiberg-grating.com  |  wibergmetal.com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Payment, Packing &amp; Shipping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383280" cy="2926080"/>
          </a:xfrm>
          <a:prstGeom prst="rect">
            <a:avLst>
              <a:gd name="adj" fmla="val 3125"/>
            </a:avLst>
          </a:prstGeom>
          <a:solidFill>
            <a:srgbClr val="F0F5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Terms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T/T: 30% deposit + 70% before shipment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L/C at sight — accepted for larger orders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Other terms negotiable for repeat customers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Currency: USD (EUR / RMB on request)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188720"/>
            <a:ext cx="3383280" cy="2926080"/>
          </a:xfrm>
          <a:prstGeom prst="rect">
            <a:avLst>
              <a:gd name="adj" fmla="val 3125"/>
            </a:avLst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Packing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1772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Steel strapping + plywood crate (standard)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1772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Bundled with plastic corner protectors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1772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Fumigation-free plywood (ISPM-15)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 packing per buyer requirement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188720"/>
            <a:ext cx="3383280" cy="2926080"/>
          </a:xfrm>
          <a:prstGeom prst="rect">
            <a:avLst>
              <a:gd name="adj" fmla="val 3125"/>
            </a:avLst>
          </a:prstGeom>
          <a:solidFill>
            <a:srgbClr val="F0F5F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1280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Shipping &amp; Logistics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7532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Incoterms: FOB Tianjin / CIF / DDP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75320" y="233172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20' GP / 40' GP / 40' HC / flat rack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283464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Container optimization for cost saving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75320" y="33375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 B/L, packing list, CO, test certs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2976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Provided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Commercial Invoice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5102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Packing List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54498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Bill of Lading (B/L)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57972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Certificate of Origin (CO)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754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Mill Test Certificate (MTC / EN 10204 3.1)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17920" y="51023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Galvanizing Certificate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544982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SGS / BV Inspection Report (optional)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57972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Shop Drawings (stamped)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www.wiberg-grating.com  |  wibergmetal.com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Assurance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60120"/>
            <a:ext cx="1828800" cy="4572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2560320" cy="1645920"/>
          </a:xfrm>
          <a:prstGeom prst="rect">
            <a:avLst>
              <a:gd name="adj" fmla="val 5556"/>
            </a:avLst>
          </a:prstGeom>
          <a:solidFill>
            <a:srgbClr val="F0F5F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management system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covering design, production,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inspection, and delivery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66160" y="1188720"/>
            <a:ext cx="2560320" cy="1645920"/>
          </a:xfrm>
          <a:prstGeom prst="rect">
            <a:avLst>
              <a:gd name="adj" fmla="val 5556"/>
            </a:avLst>
          </a:prstGeom>
          <a:solidFill>
            <a:srgbClr val="F0F5FA"/>
          </a:solidFill>
          <a:ln/>
        </p:spPr>
      </p:sp>
      <p:sp>
        <p:nvSpPr>
          <p:cNvPr id="8" name="Text 6"/>
          <p:cNvSpPr/>
          <p:nvPr/>
        </p:nvSpPr>
        <p:spPr>
          <a:xfrm>
            <a:off x="370332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/ EN 1090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steel certification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European market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188720"/>
            <a:ext cx="2560320" cy="1645920"/>
          </a:xfrm>
          <a:prstGeom prst="rect">
            <a:avLst>
              <a:gd name="adj" fmla="val 5556"/>
            </a:avLst>
          </a:prstGeom>
          <a:solidFill>
            <a:srgbClr val="F0F5F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Enterprise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 qualification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sustainable manufacturing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235440" y="1188720"/>
            <a:ext cx="2560320" cy="1645920"/>
          </a:xfrm>
          <a:prstGeom prst="rect">
            <a:avLst>
              <a:gd name="adj" fmla="val 5556"/>
            </a:avLst>
          </a:prstGeom>
          <a:solidFill>
            <a:srgbClr val="F0F5FA"/>
          </a:solidFill>
          <a:ln/>
        </p:spPr>
      </p:sp>
      <p:sp>
        <p:nvSpPr>
          <p:cNvPr id="14" name="Text 12"/>
          <p:cNvSpPr/>
          <p:nvPr/>
        </p:nvSpPr>
        <p:spPr>
          <a:xfrm>
            <a:off x="937260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SGS / BV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372600" y="1737360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Third-party inspection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on request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pre-shipment QC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Quality Control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65760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Raw material inspection — mill certs verified, bar dimensions checked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4041648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Welding QC — forge pressure monitoring, cross-bar pull-off test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25696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Dimensional check — panel size, pitch, flatness tolerance per standard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809744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Surface treatment — zinc coating thickness, adhesion test (HDG)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193792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Final inspection — visual, dimensional, weight, and packing check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10058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Loading supervision — container photos, loading plan, seal number recorded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0" y="3017520"/>
            <a:ext cx="3474720" cy="1371600"/>
          </a:xfrm>
          <a:prstGeom prst="ellipse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0" y="4572000"/>
            <a:ext cx="3474720" cy="1371600"/>
          </a:xfrm>
          <a:prstGeom prst="ellipse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57200" y="6400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www.wiberg-grating.com  |  wibergmetal.com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to Order?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easy ways to start your inquiry: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338328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920240" y="278892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1635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Us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your requirements to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sales@wiberg-grating.com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info@wibergmetal.com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2651760"/>
            <a:ext cx="338328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577840" y="278892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81635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chat at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+86 132 7317 7087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&amp; photos welcome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651760"/>
            <a:ext cx="3383280" cy="2011680"/>
          </a:xfrm>
          <a:prstGeom prst="rect">
            <a:avLst>
              <a:gd name="adj" fmla="val 4545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9235440" y="2788920"/>
            <a:ext cx="731520" cy="7315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81635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RFQ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229600" y="3931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out the form at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wibergmetal.com/rfq/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drawings directly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31520" y="4937760"/>
            <a:ext cx="10698480" cy="640080"/>
          </a:xfrm>
          <a:prstGeom prst="rect">
            <a:avLst>
              <a:gd name="adj" fmla="val 11429"/>
            </a:avLst>
          </a:prstGeom>
          <a:solidFill>
            <a:srgbClr val="0369A1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Typical response: within 24 business hours  ·  Mon–Sat 09:00–18:00 (UTC+8)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457200"/>
            <a:ext cx="2743200" cy="7589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731520" y="5852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www.wiberg-grating.com  |  wibergmetal.com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" y="6172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  ·  CE / EN 1090  ·  SGS / BV Available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972800" y="64008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Wiberg Metal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WIBERG — Customer Ordering Guide</dc:title>
  <dc:subject>Ordering Guide 2026</dc:subject>
  <dc:creator>Wiberg Metal</dc:creator>
  <cp:lastModifiedBy>Wiberg Metal</cp:lastModifiedBy>
  <cp:revision>1</cp:revision>
  <dcterms:created xsi:type="dcterms:W3CDTF">2026-03-24T05:16:33Z</dcterms:created>
  <dcterms:modified xsi:type="dcterms:W3CDTF">2026-03-24T05:16:33Z</dcterms:modified>
</cp:coreProperties>
</file>